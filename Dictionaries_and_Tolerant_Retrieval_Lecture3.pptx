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02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 and Tolerant Retrieval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89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Introduction to Information Retrieval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Manning, Raghavan &amp; Schütze — Cambridge University Press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of the Previous Lecture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10972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type/token distinction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are normalized types put in the dictionary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61488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61488"/>
            <a:ext cx="109728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986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problems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101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Hyphens, apostrophes, compounds, CJK 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68496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68496"/>
            <a:ext cx="109728" cy="1051560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0565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equivalence classing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51713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case folding, stemming, lemmatization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175504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175504"/>
            <a:ext cx="109728" cy="1051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126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pointers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72414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 tree-like structure in a postings 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Lecture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of tolerant, error-forgiving retrieval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91440"/>
          </a:xfrm>
          <a:prstGeom prst="roundRect">
            <a:avLst>
              <a:gd name="adj" fmla="val 80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5440680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Data Structures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store and search the term vocabulary efficiently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50876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508760"/>
            <a:ext cx="5440680" cy="91440"/>
          </a:xfrm>
          <a:prstGeom prst="roundRect">
            <a:avLst>
              <a:gd name="adj" fmla="val 80000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291072" y="1554480"/>
            <a:ext cx="544068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19672" y="23774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Wild-card Queries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19672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mon*, *mon and co*tion style queries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5440680" cy="91440"/>
          </a:xfrm>
          <a:prstGeom prst="roundRect">
            <a:avLst>
              <a:gd name="adj" fmla="val 80000"/>
            </a:avLst>
          </a:prstGeom>
          <a:solidFill>
            <a:srgbClr val="D269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160520"/>
            <a:ext cx="5440680" cy="45720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26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" y="4983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Correction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55321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distance, n-gram overlap, and context-sensitive fixes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91072" y="41148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4114800"/>
            <a:ext cx="5440680" cy="91440"/>
          </a:xfrm>
          <a:prstGeom prst="roundRect">
            <a:avLst>
              <a:gd name="adj" fmla="val 80000"/>
            </a:avLst>
          </a:prstGeom>
          <a:solidFill>
            <a:srgbClr val="D6891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91072" y="4160520"/>
            <a:ext cx="5440680" cy="45720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89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519672" y="4983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Soundex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519672" y="55321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heuristic for phonetic (sound-alike) matching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 Data Structures for Inverted Indexes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dictionary stores the term vocabulary, document frequency, and a pointer to each postings list</a:t>
            </a:r>
            <a:endParaRPr lang="en-US" sz="1350" dirty="0"/>
          </a:p>
        </p:txBody>
      </p:sp>
      <p:pic>
        <p:nvPicPr>
          <p:cNvPr id="4" name="Image 0" descr="/sessions/clever-compassionate-bohr/mnt/outputs/lec3_deck/img/pos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577840" cy="23591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463040"/>
            <a:ext cx="5422392" cy="2359152"/>
          </a:xfrm>
          <a:prstGeom prst="roundRect">
            <a:avLst>
              <a:gd name="adj" fmla="val 271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naïve dictionary: an array of struct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37960" y="20574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2121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char[20]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37960" y="2450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bytes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0" y="20574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2121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450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 bytes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921240" y="2057400"/>
            <a:ext cx="1600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21240" y="2121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Postings *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921240" y="2450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 bytes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379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questions: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37960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 we store a dictionary in memory efficiently?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 we quickly look up elements at query time?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1605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1605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are answered differently depending on the data structure chosen for the dictionary — hashtables or trees.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Main Choices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IR systems use hashtables, some use trees — the right choice depends on the workload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685800"/>
          </a:xfrm>
          <a:prstGeom prst="roundRect">
            <a:avLst>
              <a:gd name="adj" fmla="val 933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11274552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73352"/>
            <a:ext cx="11274552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63040"/>
            <a:ext cx="10945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Hashtables            or            Trees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keys are we likely to have?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4290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number likely to remain static, or change a lot — and if it changes, are keys only inserted, or also deleted?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3891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relative frequencies with which various keys will be accessed?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of solution (hashing vs. search trees) is governed by these questions about the vocabulary's size and dynamics.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Hashtables vs. Trees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vocabulary term is hashed to an integer, or placed by a standard character ordering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5440680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faster than a tree: O(1)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find minor variants (judgment / judgement)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prefix search — a problem for tolerant retrieval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vocabulary occasionally forces an expensive full rehash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4983480" cy="320040"/>
          </a:xfrm>
          <a:prstGeom prst="roundRect">
            <a:avLst>
              <a:gd name="adj" fmla="val 42857"/>
            </a:avLst>
          </a:prstGeom>
          <a:solidFill>
            <a:srgbClr val="FCEEE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3434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 assume you've seen hashtables before)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559552" cy="4297680"/>
          </a:xfrm>
          <a:prstGeom prst="roundRect">
            <a:avLst>
              <a:gd name="adj" fmla="val 1489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2763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41732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(Binary Tree, B-Tree)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prefix problem (e.g., terms starting with “hyp”)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560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Slower: O(log M) — and this requires a balanced tree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binary trees is expensive — B-trees mitigate this problem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require a standard ordering of characters (and hence strings) — but we typically have one.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in Practice: Binary Tree &amp; B-Tree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Simplest: binary tree. More usual in practice: B-trees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5669280" cy="3383280"/>
          </a:xfrm>
          <a:prstGeom prst="roundRect">
            <a:avLst>
              <a:gd name="adj" fmla="val 162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</a:t>
            </a:r>
            <a:endParaRPr lang="en-US" sz="1350" dirty="0"/>
          </a:p>
        </p:txBody>
      </p:sp>
      <p:pic>
        <p:nvPicPr>
          <p:cNvPr id="6" name="Image 0" descr="/sessions/clever-compassionate-bohr/mnt/outputs/lec3_deck/img/binary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74520"/>
            <a:ext cx="539496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17320"/>
            <a:ext cx="5577840" cy="3383280"/>
          </a:xfrm>
          <a:prstGeom prst="roundRect">
            <a:avLst>
              <a:gd name="adj" fmla="val 162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5361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</a:t>
            </a:r>
            <a:endParaRPr lang="en-US" sz="1350" dirty="0"/>
          </a:p>
        </p:txBody>
      </p:sp>
      <p:pic>
        <p:nvPicPr>
          <p:cNvPr id="9" name="Image 1" descr="/sessions/clever-compassionate-bohr/mnt/outputs/lec3_deck/img/b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48840"/>
            <a:ext cx="4846320" cy="19659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4206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1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internal node has a number of children in the interval [a,b], e.g., [2,4].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4983480"/>
            <a:ext cx="11274552" cy="685800"/>
          </a:xfrm>
          <a:prstGeom prst="roundRect">
            <a:avLst>
              <a:gd name="adj" fmla="val 9333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49834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branching factor lets B-trees stay shallow and balanced with far less rebalancing overhead than a plain binary tree.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Wild-card Queries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queries when the user isn't sure of the exact spelling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Wild-cards?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situations where users reach for a wild-card query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54406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spelling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Sydney vs. Sidney  →  S*dney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91072" y="150876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91072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719072"/>
            <a:ext cx="5440680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spelling variants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19672" y="228600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2860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vs. colour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11480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325112"/>
            <a:ext cx="5440680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411480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if stemming applies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892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judicial vs. judiciary  →  judicia*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91072" y="411480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411480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4325112"/>
            <a:ext cx="5440680" cy="210312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25" name="Text 23"/>
          <p:cNvSpPr/>
          <p:nvPr/>
        </p:nvSpPr>
        <p:spPr>
          <a:xfrm>
            <a:off x="6455664" y="411480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word / phrase rendition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19672" y="4892040"/>
            <a:ext cx="49834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489204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89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Universit* Stuttgart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Trailing &amp; Leading Wild-cards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with a binary tree (or B-tree) lexicon: just retrieve a range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5440680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4173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mon*  —  Trailing Wild-card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docs containing any word beginning with “mon”.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4983480" cy="548640"/>
          </a:xfrm>
          <a:prstGeom prst="roundRect">
            <a:avLst>
              <a:gd name="adj" fmla="val 8333"/>
            </a:avLst>
          </a:prstGeom>
          <a:solidFill>
            <a:srgbClr val="EAF4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 ≤  w  &lt;  moo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55955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41732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27632"/>
            <a:ext cx="5559552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141732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*mon  —  Leading Wild-card (harder)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words ending in “mon”. Maintain an additional B-tree for terms spelled backwards.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560320"/>
            <a:ext cx="5102352" cy="548640"/>
          </a:xfrm>
          <a:prstGeom prst="roundRect">
            <a:avLst>
              <a:gd name="adj" fmla="val 8333"/>
            </a:avLst>
          </a:prstGeom>
          <a:solidFill>
            <a:srgbClr val="FCEE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560320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  ≤  w  &lt;  non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 </a:t>
            </a: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enumerate all terms meeting the wild-card query </a:t>
            </a:r>
            <a:r>
              <a:rPr lang="en-US" sz="1400" b="1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pro*cent</a:t>
            </a: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 the results of </a:t>
            </a: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pro*</a:t>
            </a: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r>
              <a:rPr lang="en-US" sz="14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*cent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Processing After Enumeration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matching terms is only half the job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81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have an enumeration of all terms in the dictionary that match the wild-card query.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still have to look up the postings for each enumerated term.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1363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may result in the execution of many Boolean AND queries.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519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se*ate  AND  fil*er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wild-card term may enumerate several matches, so this single query can expand into many AND combinations.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Wild-cards: The Permuterm Index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co*tion needs a different trick — B-trees only handle *'s at the end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transform:  </a:t>
            </a: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co*tion  →  tion$co*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wild-card query so the * always occurs at the end — this gives rise to the Permuterm Index.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term </a:t>
            </a: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index under every rotation ($ marks the word boundary):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hello$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77440" y="31546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ello$h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31546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llo$he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lo$hel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31546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o$hell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0" y="3154680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0" y="31546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$hello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77640"/>
          <a:ext cx="11274552" cy="12801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78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Query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Lookup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Query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Lookup</a:t>
                      </a:r>
                      <a:endParaRPr lang="en-US" sz="125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 on X$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*X*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 on X*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 on $X*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X*Y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 on Y$X*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 on X$*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X*Y*Z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??? (exercise)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Permuterm Query 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wild-card to the right, then use a B-tree lookup as before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949440" cy="3017520"/>
          </a:xfrm>
          <a:prstGeom prst="roundRect">
            <a:avLst>
              <a:gd name="adj" fmla="val 2121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=  hel*o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160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hel,   </a:t>
            </a:r>
            <a:r>
              <a:rPr lang="en-US" sz="16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160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6309360" cy="685800"/>
          </a:xfrm>
          <a:prstGeom prst="roundRect">
            <a:avLst>
              <a:gd name="adj" fmla="val 6667"/>
            </a:avLst>
          </a:prstGeom>
          <a:solidFill>
            <a:srgbClr val="EAF4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  o$hel*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X*Y rotates to Y$X* — a simple trailing wild-card lookup on the permuterm B-tree.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35240" y="1554480"/>
            <a:ext cx="4096512" cy="3017520"/>
          </a:xfrm>
          <a:prstGeom prst="roundRect">
            <a:avLst>
              <a:gd name="adj" fmla="val 2121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1554480"/>
            <a:ext cx="4096512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1764792"/>
            <a:ext cx="4096512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99832" y="1554480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Permuterm Problem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every rotation of every term roughly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63840" y="2606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26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QUADRUPLES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638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the lexicon.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63840" y="3611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trade-off motivates the k-gram index, covered next.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Bigram (k-gram) Indexes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space-efficient alternative to the permuterm index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08760"/>
            <a:ext cx="1071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all k-grams (sequences of k characters) occurring in any term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57400"/>
            <a:ext cx="10716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second inverted index mapping each k-gram to the dictionary terms that contain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from the text “April is the cruelest month” we get these 2-grams (bigrams) — </a:t>
            </a:r>
            <a:r>
              <a:rPr lang="en-US" sz="135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special word-boundary symbol: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17320" y="33832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86000" y="33832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54680" y="33832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023360" y="33832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33832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l$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60720" y="338328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3383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86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417320" y="388620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1417320" y="3886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s$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286000" y="388620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0" y="3886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154680" y="388620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3154680" y="3886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023360" y="388620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0" y="3886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92040" y="3886200"/>
            <a:ext cx="777240" cy="384048"/>
          </a:xfrm>
          <a:prstGeom prst="roundRect">
            <a:avLst>
              <a:gd name="adj" fmla="val 47619"/>
            </a:avLst>
          </a:prstGeom>
          <a:solidFill>
            <a:srgbClr val="EA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8862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e$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663440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800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inverted index:  bigram  →  matching dictionary terms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  →  among, mortal, mortgage, moth …          on  →  along, among, once, only …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Wild-cards with k-grams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mon* can now be run as a Boolean AND of bigrams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  AND  mo  AND  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670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all terms matching the AND version of the wild-card query.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192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291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we'd also enumerate false positives — e.g., moon matches all three bigrams but doesn't match mon*.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9136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Post-filter the surviving enumerated terms against the actual wild-card pattern.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53542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 survivors in the term–document inverted index.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9333"/>
            </a:avLst>
          </a:prstGeom>
          <a:solidFill>
            <a:srgbClr val="EAF4E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and space-efficient — a big improvement over the permuterm index's ~4x storage blow-up.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Spelling Correction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 of the problem, and three families of techniques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Spelling Correction: Two Principal Uses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task differs sharply depending on where misspellings arise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3840480"/>
          </a:xfrm>
          <a:prstGeom prst="roundRect">
            <a:avLst>
              <a:gd name="adj" fmla="val 166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54406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Correcting Documents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0487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24028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for OCR'd or scanned text — misrecognized characters produce spelling errors.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01752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arises from other recognition problems, e.g. handwriting recognition or speech transcription.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95935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79476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target is the document text itself, before it ever enters the index.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559552" cy="3840480"/>
          </a:xfrm>
          <a:prstGeom prst="roundRect">
            <a:avLst>
              <a:gd name="adj" fmla="val 166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087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1907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5087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Correcting Queries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40487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702552" y="2240280"/>
            <a:ext cx="4727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case, particularly on the web.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31821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552" y="3017520"/>
            <a:ext cx="4727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important in interactive systems — users expect instant feedback.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46520" y="395935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702552" y="3794760"/>
            <a:ext cx="4727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 mean … ?” — even when we don't automatically correct the query, we often want to suggest an alternative.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Correcting Documents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text is the classic case — errors are systematic, not random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1371600"/>
          </a:xfrm>
          <a:prstGeom prst="roundRect">
            <a:avLst>
              <a:gd name="adj" fmla="val 466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technique depends on the source of the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scanning errors, the confusion of a “c” and a “t” is likely, but not the confusion of a “c” and a “q”. Character-shape similarity drives the error model.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5440680" cy="288036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089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19272"/>
            <a:ext cx="5440680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31089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Approach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867912"/>
            <a:ext cx="100584" cy="100584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70332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heavily used documents, hand-correct errors using standard string-edit techniques.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645152"/>
            <a:ext cx="100584" cy="100584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480560"/>
            <a:ext cx="4681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can also be feasible for the frequently accessed portions of the collection.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108960"/>
            <a:ext cx="5559552" cy="288036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31089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319272"/>
            <a:ext cx="5559552" cy="2103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31089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Approach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46520" y="3867912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6702552" y="3703320"/>
            <a:ext cx="4727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deeply scanned collections (e.g., historical or foreign-language material), manual correction is infeasible.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4645152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4480560"/>
            <a:ext cx="4727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statistical language models to detect and correct likely OCR errors automatically.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Correcting Queries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contexts in which we correct queries — with a key distinction between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34924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64792"/>
            <a:ext cx="534924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54480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Isolated-term correction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each query term on its own, without considering the other terms in the query.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349240" cy="192024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554480"/>
            <a:ext cx="5349240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764792"/>
            <a:ext cx="5349240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91072" y="1554480"/>
            <a:ext cx="5020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Context-sensitive correction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2512" y="22860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neighboring words when correcting — a term may be correctly spelled but wrong in this context.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11274552" cy="1005840"/>
          </a:xfrm>
          <a:prstGeom prst="roundRect">
            <a:avLst>
              <a:gd name="adj" fmla="val 6364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flew form Heathrow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is correctly spelled in isolation — “form” is a real word — but the intended query is almost certainly flew from Heathrow.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English, spelling correction can be done at ~99% correct word accuracy using statistical language models built from a large corpus of correctly-spelled text.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Isolated-Term Correction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idea: find the lexicon term closest to a misspelled term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“Closest”</a:t>
            </a:r>
            <a:r>
              <a:rPr lang="en-US" sz="15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defined in several ways. We'll consider three: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67712"/>
            <a:ext cx="36118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5740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Edit distance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 — count the minimum number of insertions, deletions, substitutions needed.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88536" y="205740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88536" y="205740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8536" y="2267712"/>
            <a:ext cx="3611880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453128" y="205740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Weighted edit distance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7136" y="28346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 where the weight of an operation depends on the character(s) involved, using a confusion matrix.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2057400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205740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2267712"/>
            <a:ext cx="3611880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205740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n-gram overlap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48472" y="28346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overlap between the character k-grams of the query term and lexicon term (Jaccard coefficient).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11274552" cy="1188720"/>
          </a:xfrm>
          <a:prstGeom prst="roundRect">
            <a:avLst>
              <a:gd name="adj" fmla="val 538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54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lexicon come from?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dictionary (e.g., Webster's), or better, an “industry-specific” dictionary hand-built for the domain — or the dictionary of terms actually occurring in the collection being indexed.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Distance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character edits needed to transform one string into another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286000"/>
          </a:xfrm>
          <a:prstGeom prst="roundRect">
            <a:avLst>
              <a:gd name="adj" fmla="val 28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54406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 number of insertions, deletions, or substitutions needed to transform s₁ into s₂.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4937760" cy="777240"/>
          </a:xfrm>
          <a:prstGeom prst="roundRect">
            <a:avLst>
              <a:gd name="adj" fmla="val 5882"/>
            </a:avLst>
          </a:prstGeom>
          <a:solidFill>
            <a:srgbClr val="EAF4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80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</a:t>
            </a: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r>
              <a:rPr lang="en-US" sz="2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20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</a:t>
            </a:r>
            <a:r>
              <a:rPr lang="en-US" sz="2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 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559552" cy="2286000"/>
          </a:xfrm>
          <a:prstGeom prst="roundRect">
            <a:avLst>
              <a:gd name="adj" fmla="val 28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5087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71907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15087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Computed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22677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702552" y="2103120"/>
            <a:ext cx="4727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— same idea as computing sequence alignments in bioinformatics.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304495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702552" y="2880360"/>
            <a:ext cx="4727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table of edit distances between all prefixes of s₁ and all prefixes of s₂.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274552" cy="2148840"/>
          </a:xfrm>
          <a:prstGeom prst="roundRect">
            <a:avLst>
              <a:gd name="adj" fmla="val 2979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pic>
        <p:nvPicPr>
          <p:cNvPr id="20" name="Image 0" descr="/sessions/clever-compassionate-bohr/mnt/outputs/lec3_deck/img/dp_pseudo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87952"/>
            <a:ext cx="5486400" cy="1828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92240" y="41879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3.5 — Dynamic-programming algorithm for computing the edit distance between strings s₁ and s₂.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92240" y="4937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O(|s₁| × |s₂|) — quadratic in the string lengths, but each cell only needs its three neighbors.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Distance: Computing CATS → FAST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3.6 — the DP table filled in bottom-up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675120" cy="4709160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pic>
        <p:nvPicPr>
          <p:cNvPr id="5" name="Image 0" descr="/sessions/clever-compassionate-bohr/mnt/outputs/lec3_deck/img/dp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630936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2194560"/>
          </a:xfrm>
          <a:prstGeom prst="roundRect">
            <a:avLst>
              <a:gd name="adj" fmla="val 291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0" y="1673352"/>
            <a:ext cx="4416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479792" y="1463040"/>
            <a:ext cx="4087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71232" y="22677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827264" y="210312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[i,j] holds the edit distance between the first i letters of cats and the first j letters of fast.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71232" y="304495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7827264" y="2880360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bottom-right cell gives the full edit distance between the two complete strings.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0" y="3840480"/>
            <a:ext cx="4416552" cy="2331720"/>
          </a:xfrm>
          <a:prstGeom prst="roundRect">
            <a:avLst>
              <a:gd name="adj" fmla="val 2745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571232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71232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d(cats, fast) = 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571232" y="48006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edits (a mix of substitutions/insertions along the optimal alignment path) turn cats into fast.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71232" y="5486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spelling correction, we scan the lexicon for terms with the smallest edit distance to the query term.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Edit Distance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character substitutions are equally likely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423160"/>
          </a:xfrm>
          <a:prstGeom prst="roundRect">
            <a:avLst>
              <a:gd name="adj" fmla="val 264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54406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1343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148840"/>
            <a:ext cx="4681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of an operation depends on the character(s) involved.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9535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788920"/>
            <a:ext cx="4681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typically based on the keyboard layout (for typing errors) or letter shape / phonetics (for OCR errors).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9359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429000"/>
            <a:ext cx="4681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a confusion matrix built from corpora of actual errors.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559552" cy="2423160"/>
          </a:xfrm>
          <a:prstGeom prst="roundRect">
            <a:avLst>
              <a:gd name="adj" fmla="val 264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087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1907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5087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of Weights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2402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errors: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keys on QWERTY (e.g. “e” ↔ “r”) more likely to be confused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0175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errors:  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similar shapes (e.g. “rn” ↔ “m”, “c” ↔ “t”) more likely to be confused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11274552" cy="201168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computation, different weights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31520" y="496519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4800600"/>
            <a:ext cx="1016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for computing weighted edit distance is essentially the same as for standard edit distance.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54681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5303520"/>
            <a:ext cx="10168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weight applied to each substitution / insertion / deletion in the DP recurrence is looked up from the confusion matrix instead of being fixed at 1.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Edit Distances for Correction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raw distance number becomes a ranked list of corrections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6276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query term t, compute its edit distance to every term in the lexicon.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4963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lexicon terms with the smallest edit distance to 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3649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these terms to the user as spelling suggestions, or auto-correct if only one survives.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1274552" cy="1691640"/>
          </a:xfrm>
          <a:prstGeom prst="roundRect">
            <a:avLst>
              <a:gd name="adj" fmla="val 3784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Problem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edit distance to every term in the lexicon for every query term is far too slow for interactive spelling correction over a large collection — we need to shortlist candidates first.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motivates n-gram overlap as a fast pre-filter (next slides).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Shortlisting Candidates: n-gram Overlap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bigram index (built for wild-card queries) to speed up spelling correction too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08760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all the n-grams in the query term.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03120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n-gram index (built earlier for wild-card queries) to retrieve lexicon terms that match a sufficient number of these n-grams.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697480"/>
            <a:ext cx="10716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using the Jaccard coefficient — measuring set overlap between the query term's n-grams and each candidate term's n-grams.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49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Coefficient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J(X, Y) = |X ∩ Y| / |X ∪ Y|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37947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of the overlap of two sets X and Y, computed as the size of their intersection divided by the size of their union. Always between 0 and 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257800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is 1 when X = Y and 0 when X and Y share no members; J only requires that we deal with a set of small integers (n-gram overlap counts) which is fast to compute.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Bigrams — Worked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is the misspelling “bord” to the lexicon term “border”?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1965960"/>
          </a:xfrm>
          <a:prstGeom prst="roundRect">
            <a:avLst>
              <a:gd name="adj" fmla="val 3256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5440680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term:  bord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22860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80360" y="228600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286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559552" cy="1965960"/>
          </a:xfrm>
          <a:prstGeom prst="roundRect">
            <a:avLst>
              <a:gd name="adj" fmla="val 3256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087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1907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5087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term:  border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22860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AF4E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79208" y="22860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AF4E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9208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11896" y="22860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AF4E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1896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44584" y="22860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44584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77272" y="22860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11274552" cy="2331720"/>
          </a:xfrm>
          <a:prstGeom prst="roundRect">
            <a:avLst>
              <a:gd name="adj" fmla="val 2745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931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overlap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{bo, or, rd}</a:t>
            </a: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Y = {bo, or, rd, de, er}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∩ Y</a:t>
            </a:r>
            <a:r>
              <a:rPr lang="en-US" sz="140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{bo, or, rd}  → 3 bigrams          </a:t>
            </a: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∪ Y</a:t>
            </a:r>
            <a:r>
              <a:rPr lang="en-US" sz="1400" dirty="0">
                <a:solidFill>
                  <a:srgbClr val="2B2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{bo, or, rd, de, er}  → 5 bigrams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521208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EAF4EC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212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J(bord, border) = 3/5 = 0.6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37760" y="52120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Jaccard score makes border a strong correction candidate for bord.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Context-Sensitive Spelling Correction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Isolated-term methods can't catch every error — some errors need the sentence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FCEEEC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flew form Heathrow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“flew” nor “form” is misspelled in isolation — the error is only visible from the surrounding words.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99232"/>
            <a:ext cx="54406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78892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Approach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59359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3429000"/>
            <a:ext cx="4681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all possible resolutions of each spelling error in a phrase — retrieve documents matching each combination.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41655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4251960"/>
            <a:ext cx="4681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those with the most hits — this exploits the corpus itself as a language model.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2788920"/>
            <a:ext cx="5559552" cy="3246120"/>
          </a:xfrm>
          <a:prstGeom prst="roundRect">
            <a:avLst>
              <a:gd name="adj" fmla="val 197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78892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99923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278892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phrase with two possibly-misspelled terms, how many combinations of resolutions are there in total?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46520" y="4251960"/>
            <a:ext cx="4983480" cy="685800"/>
          </a:xfrm>
          <a:prstGeom prst="roundRect">
            <a:avLst>
              <a:gd name="adj" fmla="val 6667"/>
            </a:avLst>
          </a:prstGeom>
          <a:solidFill>
            <a:srgbClr val="EA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519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+ c₁)(1 + c₂)  combinations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cᵢ = number of alternative corrections found for term i. Each term independently keeps its original spelling or swaps to one of its cᵢ candidates, so the counts multiply across terms.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Issues in Spelling Correction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pieces together into a single probabilistic framework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3794760"/>
          </a:xfrm>
          <a:prstGeom prst="roundRect">
            <a:avLst>
              <a:gd name="adj" fmla="val 16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54406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Combine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5915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19456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this word confusion? — informed by edit distance and confusion-matrix weights.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36499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20040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common is the correction term in the language / corpus? — some corrections are intrinsically more likely.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37083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20624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query correction, is the correction consistent with the rest of the query?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5559552" cy="3794760"/>
          </a:xfrm>
          <a:prstGeom prst="roundRect">
            <a:avLst>
              <a:gd name="adj" fmla="val 168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087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19072"/>
            <a:ext cx="5559552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5087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 Channel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21488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misspelling as the correct word passed through a noisy channel that introduces errors.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2788920"/>
            <a:ext cx="4983480" cy="777240"/>
          </a:xfrm>
          <a:prstGeom prst="roundRect">
            <a:avLst>
              <a:gd name="adj" fmla="val 5882"/>
            </a:avLst>
          </a:prstGeom>
          <a:solidFill>
            <a:srgbClr val="FCEE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7889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2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  P(w) · P(t | w)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46520" y="3867912"/>
            <a:ext cx="100584" cy="100584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370332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P(w) — prior probability of the correction w occurring (language model).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553712"/>
            <a:ext cx="100584" cy="100584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438912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 | w) — probability of typing/observing t given the writer meant w (error/channel model).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Soundex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phonetic matching algorithm — finding words that sound alike, however spelled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Phonetic Correction: Soundex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of heuristics for matching names by how they sound, not how they're spelled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54406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0876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Soundex is used primarily to correct phonetic misspellings, most often of proper nouns — the same name may legitimately be spelled several different ways.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508760"/>
            <a:ext cx="5559552" cy="2103120"/>
          </a:xfrm>
          <a:prstGeom prst="roundRect">
            <a:avLst>
              <a:gd name="adj" fmla="val 304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50876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719072"/>
            <a:ext cx="5559552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336792" y="150876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Chebyshev  ↔  Tchebycheff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transliterations of the same Russian mathematician's name — very different edit distance, but nearly identical pronunciation.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74552" cy="2286000"/>
          </a:xfrm>
          <a:prstGeom prst="roundRect">
            <a:avLst>
              <a:gd name="adj" fmla="val 28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77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Idea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59943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434840"/>
            <a:ext cx="10168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Soundex is a class of heuristics that converts a name (or word) into a code, such that names with similar sounds map to the same code.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2395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5074920"/>
            <a:ext cx="10168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is mapped to a 4-character code, based on its pronunciation — then matching is done on the codes, not the raw spelling.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Soundex Algorithm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is reduced to a letter followed by three digits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8191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term to be indexed into a 4-character reduced 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same for query terms.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57200" cy="457200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8986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index by the reduced forms (as if they were regular index terms).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55701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query terms to their reduced forms and search on this.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11274552" cy="1783080"/>
          </a:xfrm>
          <a:prstGeom prst="roundRect">
            <a:avLst>
              <a:gd name="adj" fmla="val 359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80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Reduced Form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91947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754880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the first letter of the term.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523036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5065776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all occurrences of a, e, i, o, u, y, h, w to “0” (zero).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554126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5376672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letters to digits based on a fixed letter-to-digit mapping (see next slide).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85216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5687568"/>
            <a:ext cx="101681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consecutive duplicate digits, then remove all zeros; pad or truncate to three digits after the initial letter.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Soundex: The Letter-to-Digit Mapping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that sound alike are grouped and mapped to the same digit</a:t>
            </a:r>
            <a:endParaRPr lang="en-US" sz="13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035040" cy="3520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Digit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Letters</a:t>
                      </a:r>
                      <a:endParaRPr lang="en-US" sz="1400" dirty="0"/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b, f, p, 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c, g, j, k, q, s, x, z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d, 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m, n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554480"/>
            <a:ext cx="4965192" cy="3246120"/>
          </a:xfrm>
          <a:prstGeom prst="roundRect">
            <a:avLst>
              <a:gd name="adj" fmla="val 1972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66560" y="1554480"/>
            <a:ext cx="4965192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764792"/>
            <a:ext cx="4965192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8" name="Text 5"/>
          <p:cNvSpPr/>
          <p:nvPr/>
        </p:nvSpPr>
        <p:spPr>
          <a:xfrm>
            <a:off x="6931152" y="1554480"/>
            <a:ext cx="4636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 These Letters?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022592" y="2286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contains consonants that are acoustically similar or easily confused in speech / transliteration — e.g., b, f, p, v are all made with the lips.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22592" y="34290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Vowels (a, e, i, o, u), and also y, h, w, carry little distinguishing consonant sound — so they're dropped (mapped to 0) rather than assigned a digit.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98348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10235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537667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adjacent letters with the same code digit are combined into a single digit — this prevents double letters (or near-double sounds) from inflating the code.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Soundex — Worked Examples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Herman, Hermann, and Barman all reduce to related — or identical — codes</a:t>
            </a:r>
            <a:endParaRPr lang="en-US" sz="13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31089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3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Step-by-step reduction</a:t>
                      </a:r>
                      <a:endParaRPr lang="en-US" sz="13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Soundex Code</a:t>
                      </a:r>
                      <a:endParaRPr lang="en-US" sz="1300" dirty="0"/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Herman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H-e(0)-r(6)-m(5)-a(0)-n(5)  →  drop 0s, merge dup 5s  →  H, 6, 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H650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Hermann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H-e(0)-r(6)-m(5)-a(0)-n(5)-n(5)  →  drop 0s, merge dup 5s  →  H, 6, 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7A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H650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Barman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2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B-a(0)-r(6)-m(5)-a(0)-n(5)  →  drop 0s, merge dup 5s  →  B, 6, 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4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B650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89204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AF4E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Herman and Hermann share the identical code H650</a:t>
            </a:r>
            <a:r>
              <a:rPr lang="en-US" sz="13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Soundex correctly treats them as phonetic matches, even though they differ in spelling (edit distance 1).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Barman gets a different first letter (B vs. H), so despite sharing the “650” suffix, it is not conflated with Herman/Hermann.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Useful Is Soundex?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cheap, fast heuristic — but a blunt instrument compared to edit-distance methods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3749040"/>
          </a:xfrm>
          <a:prstGeom prst="roundRect">
            <a:avLst>
              <a:gd name="adj" fmla="val 170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40680" cy="420624"/>
          </a:xfrm>
          <a:prstGeom prst="roundRect">
            <a:avLst>
              <a:gd name="adj" fmla="val 1521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64792"/>
            <a:ext cx="5440680" cy="21031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54480"/>
            <a:ext cx="5111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04872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224028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— reduces matching to exact lookup on a 4-character code.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24612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the specific case it targets: phonetic variation in proper nouns (esp. surnames).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416552"/>
            <a:ext cx="100584" cy="10058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251960"/>
            <a:ext cx="46817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deterministic, and easy to implement.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559552" cy="3749040"/>
          </a:xfrm>
          <a:prstGeom prst="roundRect">
            <a:avLst>
              <a:gd name="adj" fmla="val 1707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54480"/>
            <a:ext cx="5559552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764792"/>
            <a:ext cx="5559552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1554480"/>
            <a:ext cx="5230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404872"/>
            <a:ext cx="100584" cy="100584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19" name="Text 17"/>
          <p:cNvSpPr/>
          <p:nvPr/>
        </p:nvSpPr>
        <p:spPr>
          <a:xfrm>
            <a:off x="6702552" y="2240280"/>
            <a:ext cx="4727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Soundex is a poor algorithm for general spelling correction — it is too coarse a grouping of consonants.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3410712"/>
            <a:ext cx="100584" cy="100584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21" name="Text 19"/>
          <p:cNvSpPr/>
          <p:nvPr/>
        </p:nvSpPr>
        <p:spPr>
          <a:xfrm>
            <a:off x="6702552" y="3246120"/>
            <a:ext cx="4727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developed for (and is best suited to) English surnames — it doesn't generalize well cross-lingually.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4416552"/>
            <a:ext cx="100584" cy="100584"/>
          </a:xfrm>
          <a:prstGeom prst="ellipse">
            <a:avLst/>
          </a:prstGeom>
          <a:solidFill>
            <a:srgbClr val="D2694A"/>
          </a:solidFill>
          <a:ln/>
        </p:spPr>
      </p:sp>
      <p:sp>
        <p:nvSpPr>
          <p:cNvPr id="23" name="Text 21"/>
          <p:cNvSpPr/>
          <p:nvPr/>
        </p:nvSpPr>
        <p:spPr>
          <a:xfrm>
            <a:off x="6702552" y="4251960"/>
            <a:ext cx="4727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one of a family of phonetic matching algorithms; more refined variants exist for other languages / domains.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dictionaries, wildcards, and correction combine in a single query pipeline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All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complex query can exercise every technique from this lecture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EAF4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  Sydne* NEAR mother's, day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11880" cy="3063240"/>
          </a:xfrm>
          <a:prstGeom prst="roundRect">
            <a:avLst>
              <a:gd name="adj" fmla="val 209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16352"/>
            <a:ext cx="3611880" cy="2103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60604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Sydne*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Wild-card query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via B-tree range lookup or a k-gram / permuterm index.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88536" y="2606040"/>
            <a:ext cx="3611880" cy="3063240"/>
          </a:xfrm>
          <a:prstGeom prst="roundRect">
            <a:avLst>
              <a:gd name="adj" fmla="val 209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88536" y="26060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88536" y="2816352"/>
            <a:ext cx="3611880" cy="2103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453128" y="260604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mother's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17136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&amp; normalization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17136" y="37947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to treat the apostrophe — term equivalence classes from Lecture 2.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19872" y="2606040"/>
            <a:ext cx="3611880" cy="3063240"/>
          </a:xfrm>
          <a:prstGeom prst="roundRect">
            <a:avLst>
              <a:gd name="adj" fmla="val 2090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2606040"/>
            <a:ext cx="3611880" cy="420624"/>
          </a:xfrm>
          <a:prstGeom prst="roundRect">
            <a:avLst>
              <a:gd name="adj" fmla="val 15217"/>
            </a:avLst>
          </a:prstGeom>
          <a:solidFill>
            <a:srgbClr val="D2694A"/>
          </a:solidFill>
          <a:ln w="12700">
            <a:solidFill>
              <a:srgbClr val="D26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2816352"/>
            <a:ext cx="3611880" cy="210312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84464" y="2606040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48472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misspelling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8472" y="379476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found, run isolated-term correction using edit distance or n-gram overlap.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of tolerant retrieval covered in this lecture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82296" cy="2103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Structures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Hashtables give O(1) exact lookup; trees (binary or B-trees) support range queries, prefix search, and wild-cards at the cost of O(log M) lookup.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50876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508760"/>
            <a:ext cx="82296" cy="2103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565392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Wild-card Queries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392" y="210312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Trailing/leading wild-cards use B-tree ranges; middle wild-cards need the permuterm index or the far more space-efficient k-gram index.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86200"/>
            <a:ext cx="82296" cy="2103120"/>
          </a:xfrm>
          <a:prstGeom prst="rect">
            <a:avLst/>
          </a:prstGeom>
          <a:solidFill>
            <a:srgbClr val="D269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Correction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distance, weighted edit distance, and n-gram (Jaccard) overlap each define “closest” lexicon term differently — combine with a language-model prior for best results.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3886200"/>
            <a:ext cx="5440680" cy="2103120"/>
          </a:xfrm>
          <a:prstGeom prst="roundRect">
            <a:avLst>
              <a:gd name="adj" fmla="val 3043"/>
            </a:avLst>
          </a:prstGeom>
          <a:solidFill>
            <a:srgbClr val="F7F8FA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3886200"/>
            <a:ext cx="82296" cy="2103120"/>
          </a:xfrm>
          <a:prstGeom prst="rect">
            <a:avLst/>
          </a:prstGeom>
          <a:solidFill>
            <a:srgbClr val="D6891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392" y="448056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phonetic heuristic for proper-noun matching — cheap, but too coarse to replace edit-distance methods for general spelling correction.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521440" y="6565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AAB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Information Retrieval — Lecture 3: Dictionaries and Tolerant Retrieval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Manning, Raghavan &amp; Schütze — Cambridge University Press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4271</Words>
  <Application>Microsoft Macintosh PowerPoint</Application>
  <PresentationFormat>Widescreen</PresentationFormat>
  <Paragraphs>511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Niloy Ganguly</cp:lastModifiedBy>
  <cp:revision>1</cp:revision>
  <dcterms:created xsi:type="dcterms:W3CDTF">2026-08-03T18:23:17Z</dcterms:created>
  <dcterms:modified xsi:type="dcterms:W3CDTF">2026-08-04T04:19:14Z</dcterms:modified>
</cp:coreProperties>
</file>