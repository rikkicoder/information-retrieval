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Arial"/>
              </a:rPr>
              <a:t>Estimate Converges Toward the True Value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/ Actual result count</c:v>
                </c:pt>
              </c:strCache>
            </c:strRef>
          </c:tx>
          <c:spPr>
            <a:solidFill>
              <a:srgbClr val="D269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2F-4F43-A38C-9CFDFE36F128}"/>
              </c:ext>
            </c:extLst>
          </c:dPt>
          <c:dPt>
            <c:idx val="1"/>
            <c:invertIfNegative val="0"/>
            <c:bubble3D val="0"/>
            <c:spPr>
              <a:solidFill>
                <a:srgbClr val="D689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2F-4F43-A38C-9CFDFE36F128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2F-4F43-A38C-9CFDFE36F12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~11% processed
(C=258)</c:v>
                </c:pt>
                <c:pt idx="1">
                  <c:v>20% processed</c:v>
                </c:pt>
                <c:pt idx="2">
                  <c:v>Actual (100%)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2277</c:v>
                </c:pt>
                <c:pt idx="1">
                  <c:v>1778</c:v>
                </c:pt>
                <c:pt idx="2">
                  <c:v>1529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2F-4F43-A38C-9CFDFE36F1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F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</c:v>
                </c:pt>
              </c:strCache>
            </c:strRef>
          </c:tx>
          <c:spPr>
            <a:solidFill>
              <a:srgbClr val="D269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B66-7E4A-B23D-9E39530AE6DD}"/>
              </c:ext>
            </c:extLst>
          </c:dPt>
          <c:dPt>
            <c:idx val="1"/>
            <c:invertIfNegative val="0"/>
            <c:bubble3D val="0"/>
            <c:spPr>
              <a:solidFill>
                <a:srgbClr val="D689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66-7E4A-B23D-9E39530AE6DD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66-7E4A-B23D-9E39530AE6DD}"/>
              </c:ext>
            </c:extLst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B66-7E4A-B23D-9E39530AE6D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2B2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Naive
independence</c:v>
                </c:pt>
                <c:pt idx="1">
                  <c:v>Co-occurrence</c:v>
                </c:pt>
                <c:pt idx="2">
                  <c:v>Partial results
(20% processed)</c:v>
                </c:pt>
                <c:pt idx="3">
                  <c:v>Actual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705</c:v>
                </c:pt>
                <c:pt idx="2">
                  <c:v>1778</c:v>
                </c:pt>
                <c:pt idx="3">
                  <c:v>1529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66-7E4A-B23D-9E39530AE6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F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Arial"/>
              </a:rPr>
              <a:t>Estimated vs. Actual Collection Size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Collection Size (N)</c:v>
                </c:pt>
              </c:strCache>
            </c:strRef>
          </c:tx>
          <c:spPr>
            <a:solidFill>
              <a:srgbClr val="D269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3F8-B343-B8BD-54724878B04F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F8-B343-B8BD-54724878B0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Estimated
(independence model)</c:v>
                </c:pt>
                <c:pt idx="1">
                  <c:v>Actual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30922045</c:v>
                </c:pt>
                <c:pt idx="1">
                  <c:v>25205179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F8-B343-B8BD-54724878B0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B2F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333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with Indexes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Fields, Extents &amp; Estimating Result Set / Collection Size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59893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Search Engines: Information Retrieval in Practice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Croft, Metzler &amp; Strohman — Addison-Wesley, 2008 · Chapter 5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Abstract Model of Ranking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is scored by combining features about its topical relevance and its quality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331720" cy="1828800"/>
          </a:xfrm>
          <a:prstGeom prst="roundRect">
            <a:avLst>
              <a:gd name="adj" fmla="val 25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2057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Fred's Tropical Fish Shop is the best place to find tropical fish at low, low prices. Whether you're looking for a little fish or a big fish, we've got what you need. We even have fake seaweed for your fishtank (and little surfboards too).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2103120"/>
            <a:ext cx="50292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1417320"/>
            <a:ext cx="2651760" cy="1234440"/>
          </a:xfrm>
          <a:prstGeom prst="roundRect">
            <a:avLst>
              <a:gd name="adj" fmla="val 3704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9.7   fish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  tropical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22.1   tropical fish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8.2   seaweed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  surfboards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0" y="2670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3063240"/>
            <a:ext cx="2651760" cy="731520"/>
          </a:xfrm>
          <a:prstGeom prst="roundRect">
            <a:avLst>
              <a:gd name="adj" fmla="val 6250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incoming links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days since update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0" y="37947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Features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2377440"/>
            <a:ext cx="50292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75120" y="1874520"/>
            <a:ext cx="2286000" cy="1280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874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18120" y="1051560"/>
            <a:ext cx="0" cy="77724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132320" y="502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fish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2514600"/>
            <a:ext cx="50292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55548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554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61772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ingredients feed the ranking function: </a:t>
            </a: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features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(how well the document matches the query terms) and </a:t>
            </a:r>
            <a:r>
              <a:rPr lang="en-US" sz="13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features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(signals independent of the query, like inbound links or freshness).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53492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function combines both into a single score used to sort results.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More Concrete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function is a weighted sum of document and query feature functions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R(Q,D) = Σᵢ gᵢ(Q) · fᵢ(D)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92240" y="1508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fᵢ</a:t>
            </a: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a document feature function        </a:t>
            </a:r>
            <a:r>
              <a:rPr lang="en-US" sz="125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gᵢ</a:t>
            </a: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a query feature function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14600"/>
          <a:ext cx="6949440" cy="307238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fᵢ (Document)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gᵢ (Query: “tropical fish”)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6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fish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9.7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5.2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tropical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4.2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3.4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tropical fish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22.1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9.9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chichlids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1.2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barbs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0.7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incoming links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14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1.2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update count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</a:rPr>
                        <a:t>0.9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2514600"/>
            <a:ext cx="3639312" cy="2788920"/>
          </a:xfrm>
          <a:prstGeom prst="roundRect">
            <a:avLst>
              <a:gd name="adj" fmla="val 2623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74320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3063240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303.01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8366760" y="4114800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row's fᵢ and gᵢ are multiplied and summed across all features to give the final score.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and Extents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 carries useful signal for search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27632"/>
            <a:ext cx="5440680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Document Structure Matters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202082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562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restrictions</a:t>
            </a: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e.g., date:, from: — narrow a search to a specific structural part of a document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98094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1635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fields matter more</a:t>
            </a: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e.g., a query term appearing in the title is a stronger relevance signal than the same term buried in body text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559552" cy="2331720"/>
          </a:xfrm>
          <a:prstGeom prst="roundRect">
            <a:avLst>
              <a:gd name="adj" fmla="val 2745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41732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627632"/>
            <a:ext cx="5559552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15" name="Text 13"/>
          <p:cNvSpPr/>
          <p:nvPr/>
        </p:nvSpPr>
        <p:spPr>
          <a:xfrm>
            <a:off x="6336792" y="141732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Index Fields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0" y="1993392"/>
            <a:ext cx="347472" cy="347472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1965960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inverted lists for each field type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2560320"/>
            <a:ext cx="347472" cy="347472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2532888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field information directly to postings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3127248"/>
            <a:ext cx="347472" cy="347472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309981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extent lists  ← focus of this deck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1605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 (title, headings, anchor text, dates…) is valuable evidence for ranking — the question is how to store it efficiently alongside the ordinary term index.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Extent Lists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extent is a contiguous region of a document, recorded by its word positions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6245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Extents are represented using word positions (start, 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9280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64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inverted list records all extents for a given field type (e.g., every document's title span)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164824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fish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F33"/>
                          </a:solidFill>
                        </a:rPr>
                        <a:t>(1,2)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F33"/>
                          </a:solidFill>
                        </a:rPr>
                        <a:t>(1,4)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F33"/>
                          </a:solidFill>
                        </a:rPr>
                        <a:t>(2,7)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F33"/>
                          </a:solidFill>
                        </a:rPr>
                        <a:t>(2,18)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F33"/>
                          </a:solidFill>
                        </a:rPr>
                        <a:t>(2,23)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F33"/>
                          </a:solidFill>
                        </a:rPr>
                        <a:t>(3,2)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F33"/>
                          </a:solidFill>
                        </a:rPr>
                        <a:t>(3,6)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F33"/>
                          </a:solidFill>
                        </a:rPr>
                        <a:t>(4,3)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F33"/>
                          </a:solidFill>
                        </a:rPr>
                        <a:t>(4,13)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1:(1,3)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2:(1,5)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4:(9,15)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520440"/>
            <a:ext cx="11274552" cy="1691640"/>
          </a:xfrm>
          <a:prstGeom prst="roundRect">
            <a:avLst>
              <a:gd name="adj" fmla="val 3784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7033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example: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“fish” at position 2 in document 1 falls inside the title's range (1,3) → that occurrence is in the title. “fish” at position 4 in document 1 falls outside it → that occurrence is in the body.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5262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useful: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ordinary positional list per term, plus one small extent list per field — no need to build a separate index for every field type.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Index Design Choices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ways to trade flexibility for speed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4206240"/>
          </a:xfrm>
          <a:prstGeom prst="roundRect">
            <a:avLst>
              <a:gd name="adj" fmla="val 152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27632"/>
            <a:ext cx="5440680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Scores in the Inverted List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ready-made score contribution for each (term, document) pair, instead of raw counts.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4983480" cy="502920"/>
          </a:xfrm>
          <a:prstGeom prst="roundRect">
            <a:avLst>
              <a:gd name="adj" fmla="val 9091"/>
            </a:avLst>
          </a:prstGeom>
          <a:solidFill>
            <a:srgbClr val="FCEEE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  →  [ (1 : 3.6), (3 : 2.2)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7355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is the total precomputed feature value for document 1.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query processing — no need to recompute the score formula on the fly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flexibility — changing the scoring formula means rebuilding the index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5559552" cy="4206240"/>
          </a:xfrm>
          <a:prstGeom prst="roundRect">
            <a:avLst>
              <a:gd name="adj" fmla="val 152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627632"/>
            <a:ext cx="5559552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141732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Score-Ordered Lists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5102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each term's inverted list by score (highest first) instead of by document ID.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2697480"/>
            <a:ext cx="5102352" cy="502920"/>
          </a:xfrm>
          <a:prstGeom prst="roundRect">
            <a:avLst>
              <a:gd name="adj" fmla="val 9091"/>
            </a:avLst>
          </a:prstGeom>
          <a:solidFill>
            <a:srgbClr val="EA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69748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just the top of the list  →  top-k results instantly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3383280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efficient for single-word queries — no need to scan the whole list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3931920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combine terms for multi-word queries — lists are no longer aligned by document ID, so merging is costlier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Result Set Size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documents contain ALL the query terms — without computing the full intersection?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query “a b c”: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f_abc = N · (fₐ/N) · (f_b/N) · (f_c/N) = (fₐ · f_b · f_c) / N²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f_abc  </a:t>
            </a: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the estimated size of the result 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74136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278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fₐ, f_b, f_c  </a:t>
            </a: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the number of documents that terms a, b, and c occur in (their document frequencies)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90448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5818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 </a:t>
            </a: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the number of documents in the collection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11274552" cy="1005840"/>
          </a:xfrm>
          <a:prstGeom prst="roundRect">
            <a:avLst>
              <a:gd name="adj" fmla="val 6364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892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assumption:  </a:t>
            </a: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formula assumes the terms occur </a:t>
            </a:r>
            <a:r>
              <a:rPr lang="en-US" sz="1350" b="1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</a:t>
            </a: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often false for query terms that are topically related (like “tropical fish aquarium”).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GOV2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size N = 25,205,179 documents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1325880"/>
          <a:ext cx="8714232" cy="2563368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Word(s)</a:t>
                      </a:r>
                      <a:endParaRPr lang="en-US" sz="110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Document Frequency</a:t>
                      </a:r>
                      <a:endParaRPr lang="en-US" sz="110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Estimated Frequency</a:t>
                      </a:r>
                      <a:endParaRPr lang="en-US" sz="110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tropical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120,990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fish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1,131,855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aquarium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26,480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breeding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81,885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tropical fish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18,472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5,433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tropical aquarium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1,921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127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tropical breeding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5,510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393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fish aquarium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9,722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1,189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fish breeding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36,427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3,677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aquarium breeding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1,848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</a:rPr>
                        <a:t>86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2694A"/>
                          </a:solidFill>
                        </a:rPr>
                        <a:t>tropical fish aquarium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2694A"/>
                          </a:solidFill>
                        </a:rPr>
                        <a:t>1,529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2694A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2694A"/>
                          </a:solidFill>
                        </a:rPr>
                        <a:t>tropical fish breeding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2694A"/>
                          </a:solidFill>
                        </a:rPr>
                        <a:t>3,629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2694A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54864" marR="54864" marT="18288" marB="18288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07492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rows: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3-word queries, the independence estimate is off by two orders of magnitude (e.g., 6 vs. an actual 1,529) — the terms are far from independent.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Estimates via Co-occurrence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pairwise co-occurrence statistics improves the estimate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∩ b ∩ c) = P(a ∩ b) · P(c | a ∩ b)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2316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33472"/>
            <a:ext cx="5440680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42316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∩ fish ∩ aquarium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f(tropical∩aquarium) · f(fish∩aquarium) / f(aquarium)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4015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1,921 · 9,722 / 26,480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37307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705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2608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6   ·   actual: 1,529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423160"/>
            <a:ext cx="5559552" cy="1965960"/>
          </a:xfrm>
          <a:prstGeom prst="roundRect">
            <a:avLst>
              <a:gd name="adj" fmla="val 3256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42316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633472"/>
            <a:ext cx="5559552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242316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∩ fish ∩ breeding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0800" y="2971800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f(tropical∩breeding) · f(fish∩breeding) / f(breeding)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401568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5,510 · 36,427 / 81,885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7307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2,451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77824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18   ·   actual: 3,629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0916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co-occurrence estimates land far closer to the true value than the naive independence estimate — but neither is exact, since real term dependence is more complex than a single pairwise adjustment can capture.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Refining with Partial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better estimates come from sampling the ranking process itself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212080" cy="2331720"/>
          </a:xfrm>
          <a:prstGeom prst="roundRect">
            <a:avLst>
              <a:gd name="adj" fmla="val 2745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= C / 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proportion of the collection ranked so far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documents found so far containing all query words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“tropical fish aquarium” in GOV2 — of the 26,480 documents containing “aquarium”: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989320" y="141732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977640"/>
            <a:ext cx="5212080" cy="1600200"/>
          </a:xfrm>
          <a:prstGeom prst="roundRect">
            <a:avLst>
              <a:gd name="adj" fmla="val 4000"/>
            </a:avLst>
          </a:prstGeom>
          <a:solidFill>
            <a:srgbClr val="EAF4EC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~11% processed (C=258):  </a:t>
            </a:r>
            <a:r>
              <a:rPr lang="en-US" sz="125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= 2,277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20% processed:  </a:t>
            </a:r>
            <a:r>
              <a:rPr lang="en-US" sz="125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= 1,778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value:  </a:t>
            </a: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1,529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5193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of the ranked list processed → the estimate keeps improving.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Estimate Gets Closest to the Truth?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|tropical ∩ fish ∩ aquarium| in GOV2 — actual = 1,529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914400" y="1417320"/>
          <a:ext cx="103327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71500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information used → better estimate: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independence is off by orders of magnitude; co-occurrence stats and partial-result sampling both land far closer to the truth.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Collection Size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important issue for web search engines — how big is the index really?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212080" cy="2834640"/>
          </a:xfrm>
          <a:prstGeom prst="roundRect">
            <a:avLst>
              <a:gd name="adj" fmla="val 2258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72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model: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f_ab / N = fₐ/N · f_b/N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(fₐ · f_b) / f_ab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2926080"/>
            <a:ext cx="4754880" cy="1188720"/>
          </a:xfrm>
          <a:prstGeom prst="roundRect">
            <a:avLst>
              <a:gd name="adj" fmla="val 3846"/>
            </a:avLst>
          </a:prstGeom>
          <a:solidFill>
            <a:srgbClr val="EAF4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3580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GOV2 example:
</a:t>
            </a:r>
            <a:r>
              <a:rPr lang="en-US" sz="1150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f_lincoln = 771,326    f_tropical = 120,990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f_lincoln∩tropical = 3,018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(120,990 · 771,326) / 3,018 = 30,922,045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989320" y="1417320"/>
          <a:ext cx="57607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617720"/>
            <a:ext cx="5212080" cy="594360"/>
          </a:xfrm>
          <a:prstGeom prst="roundRect">
            <a:avLst>
              <a:gd name="adj" fmla="val 9231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46177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Overestimate by ~23% — independence breaks down here too, but the estimate is still the right order of magnitude.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109728" cy="11430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is a weighted combination of features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R(Q,D) = Σᵢ gᵢ(Q)·fᵢ(D) — document features and query features are combined into a single score.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43200"/>
            <a:ext cx="109728" cy="11430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52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&amp; extents support structured queries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lists let one positional index answer “does this term occur in the title?” without a separate index per field.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023360"/>
            <a:ext cx="109728" cy="1143000"/>
          </a:xfrm>
          <a:prstGeom prst="roundRect">
            <a:avLst/>
          </a:prstGeom>
          <a:solidFill>
            <a:srgbClr val="D2694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3308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design trades flexibility for speed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scores and score-ordered lists speed up queries, at the cost of generality and easy multi-term merging.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530352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303520"/>
            <a:ext cx="109728" cy="114300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132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estimates beat exact computation — with caveats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Independence-based estimates are fast but often wildly wrong; co-occurrence stats and partial-result sampling get much closer to the truth.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Information Retrieval in Practice — Ch. 5, Ranking with Indexes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1721</Words>
  <Application>Microsoft Macintosh PowerPoint</Application>
  <PresentationFormat>Widescreen</PresentationFormat>
  <Paragraphs>236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Niloy Ganguly</cp:lastModifiedBy>
  <cp:revision>1</cp:revision>
  <dcterms:created xsi:type="dcterms:W3CDTF">2026-08-03T16:43:55Z</dcterms:created>
  <dcterms:modified xsi:type="dcterms:W3CDTF">2026-08-03T16:47:28Z</dcterms:modified>
</cp:coreProperties>
</file>