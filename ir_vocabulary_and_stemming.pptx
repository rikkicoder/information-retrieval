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3840480" cy="384048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663440"/>
            <a:ext cx="3840480" cy="38404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57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FUNDAMENTALS  ·  INFORMATION RETRIEVAL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 Vocabulary &amp; the Porter Stemmer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3649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documents to normalized index terms — tokenization, normalization, and stemming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generalizations</a:t>
            </a:r>
            <a:pPr algn="l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61264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material from Porter, M. (1980) “An algorithm for suffix stripping”, Program, 14(3)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Documents to Tokens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can build an index, we need to agree on what a “document” and a “token” 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 Document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raw byte sequence into a linear sequence of characters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encoding is it? (e.g. UTF-8)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format is it in? (PDF, Word, Excel, HTML …)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language and character set is in use?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is itself a classification problem — often solved with heuristics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E8F6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“One Document”?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index usually mixes several languages and formats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French email with a Spanish PDF attachment; code-switching in social media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multi-message email file one document, or many?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with 5 attachments — one document, or six?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files can be combined into one rendered document (e.g. slides or LaTeX embedded in HTML)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60807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0807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Upshot:  </a:t>
            </a:r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a document?” is not trivial — it requires real design decisions before indexing begins.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Word, Term, Token,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every IR system is built 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E8F6F5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69164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delimited string of characters as it appears in the text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26974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“normalized” word (case, morphology, spelling); an equivalence class of words — usually what lives in the dictionary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E8F6F5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03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3703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instance of a word or term occurring in a document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8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09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4709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same as a term: an equivalence class of tokens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55080" y="1600200"/>
            <a:ext cx="5349240" cy="3840480"/>
          </a:xfrm>
          <a:prstGeom prst="roundRect">
            <a:avLst>
              <a:gd name="adj" fmla="val 2857"/>
            </a:avLst>
          </a:prstGeom>
          <a:solidFill>
            <a:srgbClr val="E8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Inverted Index Construction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2286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2606040"/>
            <a:ext cx="2834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BB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606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Friends, Romans, countrymen.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601200" y="2606040"/>
            <a:ext cx="1965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BB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let it be with Caesar …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294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(tokens)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3520440"/>
            <a:ext cx="923544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352044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26096" y="3520440"/>
            <a:ext cx="822960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7626096" y="3520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22208" y="3520440"/>
            <a:ext cx="1325880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8522208" y="35204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countryman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921240" y="3520440"/>
            <a:ext cx="722376" cy="3840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9921240" y="3520440"/>
            <a:ext cx="722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…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420624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a candidate for a postings-list entry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what are valid tokens to emit?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 Problems: Words &amp;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English, deciding where one token ends and the next begins is hard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Word, or Two? (Or Several?)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Hewlett-Packard,   State-of-the-art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co-education   vs.   data base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hold-him-back-and-drag-him-away maneuver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  vs.   Los Angeles-based company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San Francisco-Los Angeles fares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York University   vs.   New York University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40680" cy="4434840"/>
          </a:xfrm>
          <a:prstGeom prst="roundRect">
            <a:avLst>
              <a:gd name="adj" fmla="val 2474"/>
            </a:avLst>
          </a:prstGeom>
          <a:solidFill>
            <a:srgbClr val="E8F6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920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3/20/91,   20/3/91,   Mar 20, 1991  (same date, three shapes)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B-52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100.2.86.144  (an IP address)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(800) 234-2333   vs.   800.234.2333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IR systems often skipped indexing numbers …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but numbers are generally a useful, high-value feature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Tokenization Across Scripts: No Whitespace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languages give tokenizers no spaces to work with at 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— Ambiguous Segmentation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和尚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286000" y="21031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spaces between characters. These two characters can be read as one word ‘monk’, or as a sequence of two words ‘and’ + ‘still’.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E8F6F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0233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Japanese — Four Alphabets, No Spaces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343400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Kanji (Chinese characters) for content words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Hiragana for inflectional endings &amp; function words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Katakana for foreign-word transcription</a:t>
            </a:r>
            <a:endParaRPr lang="en-US" sz="115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the Latin alphabet — and a user can write an entire query in hiragana alone!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E8F6F5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783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Languages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240280"/>
            <a:ext cx="4892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2222"/>
                </a:solidFill>
              </a:rPr>
              <a:t>Dutch, German, Swedish — compounds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Computerlinguistik → Computer + Linguistik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Lebensversicherungsgesellschaftsangestellter →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leben + versicherung + gesellschaft + angestellter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22222"/>
                </a:solidFill>
              </a:rPr>
              <a:t>Inuit — whole sentences as one word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tusaatsiarunnanngittualuujunga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5A5A5A"/>
                </a:solidFill>
              </a:rPr>
              <a:t>“I can’t hear very well.”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22222"/>
                </a:solidFill>
              </a:rPr>
              <a:t>Also difficult: Finnish, Urdu … and CamelCase in social media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Direction &amp; Diacritics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direction and accent marks add further normalization decisions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1965960"/>
          </a:xfrm>
          <a:prstGeom prst="roundRect">
            <a:avLst>
              <a:gd name="adj" fmla="val 5581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647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Script: Bidirectionality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3055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استقلت الجزائر في سنة 1962 بعد 132 عاما من الاحتلال الفرنسي.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→   ← →        ← START   (reading proceeds right-to-left, with embedded left-to-right numeral runs)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04495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‘Algeria achieved its independence in 1962 after 132 years of French occupation.’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49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 </a:t>
            </a:r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bidirectionality is not a problem if the text is coded in Unicode — the Unicode Bidirectional Algorithm (UAX #9) handles mixed-direction runs deterministically.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11247120" cy="1417320"/>
          </a:xfrm>
          <a:prstGeom prst="roundRect">
            <a:avLst>
              <a:gd name="adj" fmla="val 7742"/>
            </a:avLst>
          </a:prstGeom>
          <a:solidFill>
            <a:srgbClr val="E8F6F5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Accents &amp; Diacritics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vs. resume — simple omission of the accent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 vs. Universitaet — substitution with “ae”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test: how do users actually type their queries?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languages with standard accents, users often skip them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Normalization &amp; Equivalence Classes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terms and query terms must be folded into the same form to match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E8F6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Folding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Usually: reduce all letters to lower case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to consider: MIT vs. mit,  Fed vs. fed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best to lowercase everything anyway — users type lowercase regardless of correct capitalization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E8F6F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Equivalence Classes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920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Match U.S.A. and USA; hand-built rules like ‘car’ ↔ ‘automobile’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Or asymmetric expansion:</a:t>
            </a:r>
            <a:endParaRPr lang="en-US" sz="12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window → window, windows</a:t>
            </a:r>
            <a:endParaRPr lang="en-US" sz="12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windows → Windows, windows</a:t>
            </a:r>
            <a:endParaRPr lang="en-US" sz="125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Windows → (no expansion)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More powerful, but less efficient — and shows why window/Window/windows/Windows shouldn’t all collapse to one class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98348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983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is language-dependent:  </a:t>
            </a:r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“PETER WILL NICHT MIT.” → MIT = mit (German), but “He got his PhD from MIT.” → MIT ≠ mit (English acronym).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words:  </a:t>
            </a:r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common words (a, the, of, and …) once dropped by older IR systems — but needed for phrase queries like “King of Denmark”, so most web engines index them anyway.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Stemming vs. Lemmatization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 for collapsing related word forms to a common base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623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goal: reduce inflectional and derivationally related forms to a common base form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Lemmatization: “proper” reduction to the dictionary headword (the lemma), using a dictionary and morphological analysis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am, are, is → be;   car, cars, car’s, cars’ → car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boy’s cars are different colors” → “the boy car be different color”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Stemming: a heuristic that chops off word endings, hoping to reach the same goal without dictionary knowledge — language-dependent, often inflectional and derivational at once</a:t>
            </a:r>
            <a:endParaRPr lang="en-US" sz="13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automate, automatic, automation all reduce to automat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355080" y="1554480"/>
            <a:ext cx="5349240" cy="4251960"/>
          </a:xfrm>
          <a:prstGeom prst="roundRect">
            <a:avLst>
              <a:gd name="adj" fmla="val 2581"/>
            </a:avLst>
          </a:prstGeom>
          <a:solidFill>
            <a:srgbClr val="E8F6F5"/>
          </a:solidFill>
          <a:ln/>
        </p:spPr>
      </p:sp>
      <p:sp>
        <p:nvSpPr>
          <p:cNvPr id="6" name="Text 4"/>
          <p:cNvSpPr/>
          <p:nvPr/>
        </p:nvSpPr>
        <p:spPr>
          <a:xfrm>
            <a:off x="6629400" y="17830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Many Surface 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29400" y="23774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29400" y="28346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32918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374904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43434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all reduce 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470916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9400" y="53492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Porter’s algorithm (1980) is the most widely used English stemmer — fast, deterministic, no dictionary needed.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PORTER ALGORITHM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Porter Algorithm: Measure (m)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is represented as  [C](VC)ᵐ[V]  — m counts vowel–consonant repeats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257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decomposes into consonant (C) and vowel (V) runs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the number of VC repeats in  [C](VC)ᵐ[V]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gated by m — e.g. “only if m&gt;0” or “only if m&gt;1” — so short words aren’t wrongly mangled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applies 5 ordered phases of such rules, each a set of commands; within a compound command, the rule matching the longest suffix wins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E8F6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754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“private”  →  CVCVCV   (m = 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5486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   C     V     C     V     C     V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691640"/>
          <a:ext cx="5577840" cy="2377440"/>
        </p:xfrm>
        <a:graphic>
          <a:graphicData uri="http://schemas.openxmlformats.org/drawingml/2006/table">
            <a:tbl>
              <a:tblPr/>
              <a:tblGrid>
                <a:gridCol w="2468880"/>
                <a:gridCol w="20116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tree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trouble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CVCV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CVCVCV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126480" y="46177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E8F6F5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4754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“tree”  →  CV   (m = 0)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5120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ctr" indent="0" marL="0">
              <a:buNone/>
            </a:pPr>
            <a:r>
              <a:rPr lang="en-US" sz="2000" b="1" spc="60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09360" y="5486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   C          V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PORTER ALGORITHM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1–2: Plurals, Tense &amp; Suffix Families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of five ordered rule passes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E8F6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Plurals &amp; -ed / -ing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sses → ss   (caresses → caress)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→ i   (ponies → poni)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∅   (cats → cat)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(*v*) ed → ∅   (plastered → plaster)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(*v*) ing → ∅   (motoring → motor)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Cleanup: double consonant → single   (hopping → hop)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Cleanup: add ‘e’ back for short CVC stems   (filing → file)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40680" cy="4206240"/>
          </a:xfrm>
          <a:prstGeom prst="roundRect">
            <a:avLst>
              <a:gd name="adj" fmla="val 2609"/>
            </a:avLst>
          </a:prstGeom>
          <a:solidFill>
            <a:srgbClr val="E8F6F5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057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0574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Suffix → Single (if m&gt;0)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583680" y="2743200"/>
            <a:ext cx="4800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ational → ate   (relational → relate)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tional → tion   (conditional → condition)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enci → ence,  anci → ance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izer → ize   (digitizer → digitize)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ousli → ous   (analogousli → analogous)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ization → ize   (vietnamization → vietnamize)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ation → ate   (predication → predicate)</a:t>
            </a:r>
            <a:endParaRPr lang="en-US" sz="12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iveness → ive,  fulness → ful,  ousness → ous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PORTER ALGORITHM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3–5: Trimming Down to the 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Progressively stricter conditions bring the word to its final form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6F5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Simplification (if m&gt;0)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29184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icate → ic   (triplicate → triplic)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ative → ∅   (formative → form)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alize → al   (formalize → formal)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iciti → ic   (electriciti → electric)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ical → ic   (electrical → electric)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 → ∅,   ness → 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6F5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20116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2560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Remaining Suffixes (if m&gt;1)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329184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al, ance, ence, er, ic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able, ible, ant, ement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ment, ent, ism, ate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iti, ous, ive, ize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 (only after s / t)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revival → reviv;  adoption → adopt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560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Cleanup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329184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5a: (m&gt;1) e → ∅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probate → probat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5a: (m=1, not *o) e → ∅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cease → ceas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5b: (m&gt;1) double l → l</a:t>
            </a:r>
            <a:endParaRPr lang="en-US" sz="11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controll → control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PORTER ALGORITHM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three words through the algorithm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6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generalizations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Step 1a: strip -s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generalization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Step 2: -ization→-ize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generalize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Step 3: -alize→-al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394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1, 2 &amp; 3 fire in sequence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6F5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3484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hopping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Step 1b: -ing→∅ (hopp)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hop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cleanup: double→single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34840" y="5394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Step 1 (with its cleanup rule) is needed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783080"/>
            <a:ext cx="3611880" cy="4206240"/>
          </a:xfrm>
          <a:prstGeom prst="roundRect">
            <a:avLst>
              <a:gd name="adj" fmla="val 3038"/>
            </a:avLst>
          </a:prstGeom>
          <a:solidFill>
            <a:srgbClr val="E8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9659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3246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Step 1b: -ing→∅ (fil)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cleanup: short CVC → +e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5394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restores the silent ‘e’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PORTER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Stemmers Compare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Porter, Lovins, and Paice all chase the same goal — with different aggressiveness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text: “… features that are not easily visible from the variations in the individual genes and can lead to a picture of expression that is more biologically transparent and accessible to interpretation.”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2880360"/>
        </p:xfrm>
        <a:graphic>
          <a:graphicData uri="http://schemas.openxmlformats.org/drawingml/2006/table">
            <a:tbl>
              <a:tblPr/>
              <a:tblGrid>
                <a:gridCol w="3566160"/>
                <a:gridCol w="2560320"/>
                <a:gridCol w="256032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analysis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analysi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analys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analys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visible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visibl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variations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variat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vari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vary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biologically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biolog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biolog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biolog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transparent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transpar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transpar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transp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interpretation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interpret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interpres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222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interpret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3949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394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 tends to be the least aggressive of the three; Lovins and Paice cut further, trading precision for recall — with no single “best” choice across all tasks.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PORTER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Stemming Improve Effectiveness?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depends on the query — stemming is a double-edged sword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E8F6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Stemming Helps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892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[tartan sweaters]  —  matches {sweater, sweaters}</a:t>
            </a:r>
            <a:endParaRPr lang="en-US" sz="13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[sightseeing tour san francisco]  —  matches {tour, tours}</a:t>
            </a:r>
            <a:endParaRPr lang="en-US" sz="130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general, related singular/plural or verb forms usually should collapse together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440680" cy="3931920"/>
          </a:xfrm>
          <a:prstGeom prst="roundRect">
            <a:avLst>
              <a:gd name="adj" fmla="val 2791"/>
            </a:avLst>
          </a:prstGeom>
          <a:solidFill>
            <a:srgbClr val="E8F6F5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Stemming Hurts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8920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Porter’s </a:t>
            </a:r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</a:t>
            </a:r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22222"/>
                </a:solidFill>
              </a:rPr>
              <a:t> equivalence class contains: 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operate, operating, operates, operation, operative, operatives, operational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[operational AND research]  — collapses a fixed compound term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[operating AND system]  — same problem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</a:rPr>
              <a:t>[operative AND dentistry]  — stemming loses a needed distinction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76072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algn="l"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increases effectiveness for some queries and decreases it for others — there is no universal win.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3840480" cy="384048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663440"/>
            <a:ext cx="3840480" cy="3840480"/>
          </a:xfrm>
          <a:prstGeom prst="ellipse">
            <a:avLst/>
          </a:prstGeom>
          <a:solidFill>
            <a:srgbClr val="02C39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Strengths, Limitations &amp; Takeaway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deterministic, and purely rule-based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dictionary or training data required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Well-established standard (1980) with implementations in nearly every NLP toolkit (e.g. NLTK)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 very wide range of regular suffix patterns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0" y="210312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over-stem (unrelated words collapse together) or under-stem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handling of irregular morphology — e.g. “went” is never linked to “go”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crude stems, not always real words</a:t>
            </a:r>
            <a:endParaRPr lang="en-US" sz="1400" dirty="0"/>
          </a:p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CFE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suffix-based — ignores prefixes and meaning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12700">
            <a:solidFill>
              <a:srgbClr val="1E5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linguistically accurate root forms, lemmatization (dictionary + POS-based) is often preferred over stemming.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2026-07-27T05:21:51Z</dcterms:created>
  <dcterms:modified xsi:type="dcterms:W3CDTF">2026-07-27T05:21:51Z</dcterms:modified>
</cp:coreProperties>
</file>